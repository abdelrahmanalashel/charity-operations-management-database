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43891200" cy="2468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39F53E-3C9F-DE4E-9B22-97BE5BA5BEB7}" v="84" dt="2026-04-09T12:42:32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/>
    <p:restoredTop sz="94726"/>
  </p:normalViewPr>
  <p:slideViewPr>
    <p:cSldViewPr snapToGrid="0" snapToObjects="1">
      <p:cViewPr>
        <p:scale>
          <a:sx n="51" d="100"/>
          <a:sy n="51" d="100"/>
        </p:scale>
        <p:origin x="-250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isen Wang" userId="d23895e3-6743-4de4-a9b8-1be58e5b12b5" providerId="ADAL" clId="{B92BB58E-0AAD-50B6-9318-FF999C32563A}"/>
    <pc:docChg chg="undo custSel modSld">
      <pc:chgData name="Haisen Wang" userId="d23895e3-6743-4de4-a9b8-1be58e5b12b5" providerId="ADAL" clId="{B92BB58E-0AAD-50B6-9318-FF999C32563A}" dt="2026-04-09T12:42:32.986" v="1134" actId="20577"/>
      <pc:docMkLst>
        <pc:docMk/>
      </pc:docMkLst>
      <pc:sldChg chg="addSp delSp modSp mod">
        <pc:chgData name="Haisen Wang" userId="d23895e3-6743-4de4-a9b8-1be58e5b12b5" providerId="ADAL" clId="{B92BB58E-0AAD-50B6-9318-FF999C32563A}" dt="2026-04-09T12:42:32.986" v="1134" actId="20577"/>
        <pc:sldMkLst>
          <pc:docMk/>
          <pc:sldMk cId="0" sldId="256"/>
        </pc:sldMkLst>
        <pc:spChg chg="mod">
          <ac:chgData name="Haisen Wang" userId="d23895e3-6743-4de4-a9b8-1be58e5b12b5" providerId="ADAL" clId="{B92BB58E-0AAD-50B6-9318-FF999C32563A}" dt="2026-04-07T20:55:37.960" v="113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Haisen Wang" userId="d23895e3-6743-4de4-a9b8-1be58e5b12b5" providerId="ADAL" clId="{B92BB58E-0AAD-50B6-9318-FF999C32563A}" dt="2026-04-07T23:22:30.436" v="1026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Haisen Wang" userId="d23895e3-6743-4de4-a9b8-1be58e5b12b5" providerId="ADAL" clId="{B92BB58E-0AAD-50B6-9318-FF999C32563A}" dt="2026-04-07T20:54:15.994" v="111" actId="113"/>
          <ac:spMkLst>
            <pc:docMk/>
            <pc:sldMk cId="0" sldId="256"/>
            <ac:spMk id="4" creationId="{00000000-0000-0000-0000-000000000000}"/>
          </ac:spMkLst>
        </pc:spChg>
        <pc:spChg chg="mod">
          <ac:chgData name="Haisen Wang" userId="d23895e3-6743-4de4-a9b8-1be58e5b12b5" providerId="ADAL" clId="{B92BB58E-0AAD-50B6-9318-FF999C32563A}" dt="2026-04-07T23:24:59.768" v="1032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Haisen Wang" userId="d23895e3-6743-4de4-a9b8-1be58e5b12b5" providerId="ADAL" clId="{B92BB58E-0AAD-50B6-9318-FF999C32563A}" dt="2026-04-07T23:25:15.654" v="1035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Haisen Wang" userId="d23895e3-6743-4de4-a9b8-1be58e5b12b5" providerId="ADAL" clId="{B92BB58E-0AAD-50B6-9318-FF999C32563A}" dt="2026-04-09T12:42:32.986" v="1134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Haisen Wang" userId="d23895e3-6743-4de4-a9b8-1be58e5b12b5" providerId="ADAL" clId="{B92BB58E-0AAD-50B6-9318-FF999C32563A}" dt="2026-04-07T23:23:47.328" v="1029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Haisen Wang" userId="d23895e3-6743-4de4-a9b8-1be58e5b12b5" providerId="ADAL" clId="{B92BB58E-0AAD-50B6-9318-FF999C32563A}" dt="2026-04-09T12:39:05.629" v="1086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Haisen Wang" userId="d23895e3-6743-4de4-a9b8-1be58e5b12b5" providerId="ADAL" clId="{B92BB58E-0AAD-50B6-9318-FF999C32563A}" dt="2026-04-07T23:22:39.639" v="1027" actId="1076"/>
          <ac:spMkLst>
            <pc:docMk/>
            <pc:sldMk cId="0" sldId="256"/>
            <ac:spMk id="10" creationId="{00000000-0000-0000-0000-000000000000}"/>
          </ac:spMkLst>
        </pc:spChg>
        <pc:picChg chg="add mod">
          <ac:chgData name="Haisen Wang" userId="d23895e3-6743-4de4-a9b8-1be58e5b12b5" providerId="ADAL" clId="{B92BB58E-0AAD-50B6-9318-FF999C32563A}" dt="2026-04-07T23:25:11.491" v="1034" actId="1076"/>
          <ac:picMkLst>
            <pc:docMk/>
            <pc:sldMk cId="0" sldId="256"/>
            <ac:picMk id="11" creationId="{7CBBEBB4-5568-EB20-6DEF-C3237419FE4F}"/>
          </ac:picMkLst>
        </pc:picChg>
        <pc:picChg chg="add del">
          <ac:chgData name="Haisen Wang" userId="d23895e3-6743-4de4-a9b8-1be58e5b12b5" providerId="ADAL" clId="{B92BB58E-0AAD-50B6-9318-FF999C32563A}" dt="2026-04-09T12:22:41.363" v="1049" actId="478"/>
          <ac:picMkLst>
            <pc:docMk/>
            <pc:sldMk cId="0" sldId="256"/>
            <ac:picMk id="12" creationId="{0043EEB8-4D2F-3466-CD9B-20090ED96329}"/>
          </ac:picMkLst>
        </pc:picChg>
        <pc:picChg chg="add mod">
          <ac:chgData name="Haisen Wang" userId="d23895e3-6743-4de4-a9b8-1be58e5b12b5" providerId="ADAL" clId="{B92BB58E-0AAD-50B6-9318-FF999C32563A}" dt="2026-04-09T12:39:57.281" v="1096" actId="1036"/>
          <ac:picMkLst>
            <pc:docMk/>
            <pc:sldMk cId="0" sldId="256"/>
            <ac:picMk id="13" creationId="{A8A22760-BA1D-8C3C-19EA-9A9A6D0B1133}"/>
          </ac:picMkLst>
        </pc:picChg>
        <pc:picChg chg="add mod">
          <ac:chgData name="Haisen Wang" userId="d23895e3-6743-4de4-a9b8-1be58e5b12b5" providerId="ADAL" clId="{B92BB58E-0AAD-50B6-9318-FF999C32563A}" dt="2026-04-09T12:40:30.326" v="1109" actId="1036"/>
          <ac:picMkLst>
            <pc:docMk/>
            <pc:sldMk cId="0" sldId="256"/>
            <ac:picMk id="14" creationId="{86F4A869-86A6-8892-6027-8328BA04426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7909" y="392649"/>
            <a:ext cx="7439857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CA" sz="3200" b="1" dirty="0"/>
              <a:t>Charity Operations Management Database</a:t>
            </a:r>
            <a:br>
              <a:rPr lang="en-CA" sz="3200" dirty="0"/>
            </a:br>
            <a:r>
              <a:rPr lang="en-CA" sz="3200" dirty="0"/>
              <a:t>Abdel Rahman </a:t>
            </a:r>
            <a:r>
              <a:rPr lang="en-CA" sz="3200" dirty="0" err="1"/>
              <a:t>Alashel</a:t>
            </a:r>
            <a:r>
              <a:rPr lang="en-CA" sz="3200" dirty="0"/>
              <a:t>,</a:t>
            </a:r>
          </a:p>
          <a:p>
            <a:r>
              <a:rPr lang="en-CA" sz="3200" dirty="0"/>
              <a:t>Habeeb </a:t>
            </a:r>
            <a:r>
              <a:rPr lang="en-CA" sz="3200" dirty="0" err="1"/>
              <a:t>Adelagun</a:t>
            </a:r>
            <a:r>
              <a:rPr lang="en-CA" sz="3200" dirty="0"/>
              <a:t>,</a:t>
            </a:r>
          </a:p>
          <a:p>
            <a:r>
              <a:rPr lang="en-CA" sz="3200" dirty="0"/>
              <a:t>Mohamed </a:t>
            </a:r>
            <a:r>
              <a:rPr lang="en-CA" sz="3200" dirty="0" err="1"/>
              <a:t>Elsabah</a:t>
            </a:r>
            <a:r>
              <a:rPr lang="en-CA" sz="3200" dirty="0"/>
              <a:t>,</a:t>
            </a:r>
          </a:p>
          <a:p>
            <a:r>
              <a:rPr lang="en-CA" sz="3200" dirty="0"/>
              <a:t>Haisen Wang.</a:t>
            </a:r>
            <a:endParaRPr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1227909" y="3480090"/>
            <a:ext cx="11115510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200" b="1" dirty="0"/>
              <a:t>Project goal</a:t>
            </a:r>
            <a:r>
              <a:rPr lang="en-CA" sz="3200" dirty="0"/>
              <a:t>: design and implement a relational database that centralizes campaign/event operations, donation tracking, partner contributions, beneficiary servicing, and volunteer/staff scheduling enabling reliable integrity constraints and standard reporting queries.</a:t>
            </a:r>
          </a:p>
          <a:p>
            <a:br>
              <a:rPr lang="en-CA" sz="3200" dirty="0"/>
            </a:br>
            <a:r>
              <a:rPr lang="en-CA" sz="3200" b="1" dirty="0"/>
              <a:t>Real-world scenario</a:t>
            </a:r>
            <a:r>
              <a:rPr lang="en-CA" sz="3200" dirty="0"/>
              <a:t>: In many small-to-mid regional teams, operational data is spread across spreadsheets, online forms, email threads, and chat messages. This fragmentation creates recurring operational problems, including duplicate or inconsistent donor/beneficiary records, weak traceability from donations to campaigns/events and onward to distributions and beneficiaries, scheduling conflicts caused by inconsistent shift assignments and unreliable attendance tracking, and reporting gaps that make it slow and error-prone to produce accurate totals for funds raised, partner contributions, volunteer hours, and beneficiaries served.</a:t>
            </a:r>
            <a:endParaRPr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1227909" y="12476841"/>
            <a:ext cx="1111550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/>
              <a:t>Why a Relational Database?</a:t>
            </a:r>
          </a:p>
          <a:p>
            <a:r>
              <a:rPr lang="en-CA" sz="3200" dirty="0"/>
              <a:t>A relational database is a strong fit because charity operations naturally involve multiple entities and relationships.</a:t>
            </a:r>
          </a:p>
          <a:p>
            <a:endParaRPr lang="en-CA" sz="3200" dirty="0"/>
          </a:p>
          <a:p>
            <a:r>
              <a:rPr lang="en-CA" sz="3200" dirty="0"/>
              <a:t>(donors–donations, campaigns–events, events–shifts, volunteers–shifts, beneficiaries– requests–distributions, partners–contributions). </a:t>
            </a:r>
          </a:p>
          <a:p>
            <a:endParaRPr lang="en-CA" sz="3200" dirty="0"/>
          </a:p>
          <a:p>
            <a:r>
              <a:rPr lang="en-CA" sz="3200" dirty="0"/>
              <a:t>SQL enforces structure and integrity while supporting complex queries across linked data exactly what relational modeling is designed for.</a:t>
            </a:r>
            <a:endParaRPr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21173448" y="392649"/>
            <a:ext cx="461882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/>
              <a:t>Entity-Relationship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9110" y="13179102"/>
            <a:ext cx="1219609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/>
              <a:t>Design Decisions</a:t>
            </a:r>
          </a:p>
          <a:p>
            <a:r>
              <a:rPr lang="en-CA" sz="3200" dirty="0"/>
              <a:t>Distribution is used as a bridge between donations and beneficiaries. “Which donation helped which beneficiary”</a:t>
            </a:r>
            <a:endParaRPr sz="3200" dirty="0"/>
          </a:p>
          <a:p>
            <a:r>
              <a:rPr sz="3200" dirty="0"/>
              <a:t>Assu</a:t>
            </a:r>
            <a:r>
              <a:rPr lang="en-CA" sz="3200" dirty="0"/>
              <a:t>ming every donation is linked to a campaign, not directly to an event.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66420" y="591916"/>
            <a:ext cx="6596871" cy="15358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SQL Schema</a:t>
            </a:r>
          </a:p>
          <a:p>
            <a:r>
              <a:rPr lang="en-CA" sz="3200" dirty="0"/>
              <a:t>donors</a:t>
            </a:r>
          </a:p>
          <a:p>
            <a:r>
              <a:rPr lang="en-CA" sz="3200" dirty="0"/>
              <a:t>	 id integer [primary key]</a:t>
            </a:r>
          </a:p>
          <a:p>
            <a:r>
              <a:rPr lang="en-CA" sz="3200" dirty="0"/>
              <a:t>donations</a:t>
            </a:r>
          </a:p>
          <a:p>
            <a:r>
              <a:rPr lang="en-CA" sz="3200" dirty="0"/>
              <a:t>	id integer [primary key]</a:t>
            </a:r>
          </a:p>
          <a:p>
            <a:r>
              <a:rPr lang="en-CA" sz="3200" dirty="0"/>
              <a:t>	</a:t>
            </a:r>
            <a:r>
              <a:rPr lang="en-CA" sz="3200" dirty="0" err="1"/>
              <a:t>donor_id</a:t>
            </a:r>
            <a:r>
              <a:rPr lang="en-CA" sz="3200" dirty="0"/>
              <a:t> integer [foreign key]</a:t>
            </a:r>
          </a:p>
          <a:p>
            <a:r>
              <a:rPr lang="en-CA" sz="3200" dirty="0"/>
              <a:t>	</a:t>
            </a:r>
            <a:r>
              <a:rPr lang="en-CA" sz="3200" dirty="0" err="1"/>
              <a:t>campaign_id</a:t>
            </a:r>
            <a:r>
              <a:rPr lang="en-CA" sz="3200" dirty="0"/>
              <a:t> integer [foreign key]</a:t>
            </a:r>
          </a:p>
          <a:p>
            <a:r>
              <a:rPr lang="en-CA" sz="3200" dirty="0"/>
              <a:t>campaigns</a:t>
            </a:r>
          </a:p>
          <a:p>
            <a:r>
              <a:rPr lang="en-CA" sz="3200" dirty="0"/>
              <a:t>	id integer [primary key]</a:t>
            </a:r>
          </a:p>
          <a:p>
            <a:r>
              <a:rPr lang="en-CA" sz="3200" dirty="0"/>
              <a:t>events</a:t>
            </a:r>
          </a:p>
          <a:p>
            <a:r>
              <a:rPr lang="en-CA" sz="3200" dirty="0"/>
              <a:t>	id integer [primary key]</a:t>
            </a:r>
          </a:p>
          <a:p>
            <a:r>
              <a:rPr lang="en-CA" sz="3200" dirty="0"/>
              <a:t>	</a:t>
            </a:r>
            <a:r>
              <a:rPr lang="en-CA" sz="3200" dirty="0" err="1"/>
              <a:t>campaign_id</a:t>
            </a:r>
            <a:r>
              <a:rPr lang="en-CA" sz="3200" dirty="0"/>
              <a:t> integer [foreign key]</a:t>
            </a:r>
          </a:p>
          <a:p>
            <a:r>
              <a:rPr lang="en-CA" sz="3200" dirty="0"/>
              <a:t>beneficiaries</a:t>
            </a:r>
          </a:p>
          <a:p>
            <a:r>
              <a:rPr lang="en-CA" sz="3200" dirty="0"/>
              <a:t>	id integer [primary key]</a:t>
            </a:r>
          </a:p>
          <a:p>
            <a:r>
              <a:rPr lang="en-CA" sz="3200" dirty="0"/>
              <a:t>distributions</a:t>
            </a:r>
          </a:p>
          <a:p>
            <a:r>
              <a:rPr lang="en-CA" sz="3200" dirty="0"/>
              <a:t>	</a:t>
            </a:r>
            <a:r>
              <a:rPr lang="en-CA" sz="3200" dirty="0" err="1"/>
              <a:t>donation_id</a:t>
            </a:r>
            <a:r>
              <a:rPr lang="en-CA" sz="3200" dirty="0"/>
              <a:t> integer [primary key]</a:t>
            </a:r>
          </a:p>
          <a:p>
            <a:r>
              <a:rPr lang="en-CA" sz="3200" dirty="0"/>
              <a:t>	</a:t>
            </a:r>
            <a:r>
              <a:rPr lang="en-CA" sz="3200" dirty="0" err="1"/>
              <a:t>beneficiary_id</a:t>
            </a:r>
            <a:r>
              <a:rPr lang="en-CA" sz="3200" dirty="0"/>
              <a:t> integer [primary key]</a:t>
            </a:r>
          </a:p>
          <a:p>
            <a:r>
              <a:rPr lang="en-CA" sz="3200" dirty="0"/>
              <a:t>shifts</a:t>
            </a:r>
          </a:p>
          <a:p>
            <a:r>
              <a:rPr lang="en-CA" sz="3200" dirty="0"/>
              <a:t>	id integer [primary key]</a:t>
            </a:r>
          </a:p>
          <a:p>
            <a:r>
              <a:rPr lang="en-CA" sz="3200" dirty="0"/>
              <a:t>	</a:t>
            </a:r>
            <a:r>
              <a:rPr lang="en-CA" sz="3200" dirty="0" err="1"/>
              <a:t>event_id</a:t>
            </a:r>
            <a:r>
              <a:rPr lang="en-CA" sz="3200" dirty="0"/>
              <a:t> integer [foreign key]</a:t>
            </a:r>
          </a:p>
          <a:p>
            <a:r>
              <a:rPr lang="en-CA" sz="3200" dirty="0"/>
              <a:t>volunteers</a:t>
            </a:r>
          </a:p>
          <a:p>
            <a:r>
              <a:rPr lang="en-CA" sz="3200" dirty="0"/>
              <a:t>	id integer [primary key]</a:t>
            </a:r>
          </a:p>
          <a:p>
            <a:r>
              <a:rPr lang="en-CA" sz="3200" dirty="0" err="1"/>
              <a:t>volunteer_shift</a:t>
            </a:r>
            <a:endParaRPr lang="en-CA" sz="3200" dirty="0"/>
          </a:p>
          <a:p>
            <a:r>
              <a:rPr lang="en-CA" sz="3200" dirty="0"/>
              <a:t>	</a:t>
            </a:r>
            <a:r>
              <a:rPr lang="en-CA" sz="3200" dirty="0" err="1"/>
              <a:t>volunteer_id</a:t>
            </a:r>
            <a:r>
              <a:rPr lang="en-CA" sz="3200" dirty="0"/>
              <a:t> integer [primary key]</a:t>
            </a:r>
          </a:p>
          <a:p>
            <a:r>
              <a:rPr lang="en-CA" sz="3200" dirty="0"/>
              <a:t>	</a:t>
            </a:r>
            <a:r>
              <a:rPr lang="en-CA" sz="3200" dirty="0" err="1"/>
              <a:t>shift_id</a:t>
            </a:r>
            <a:r>
              <a:rPr lang="en-CA" sz="3200" dirty="0"/>
              <a:t> integer [primary key]</a:t>
            </a:r>
          </a:p>
          <a:p>
            <a:r>
              <a:rPr lang="en-CA" sz="3200" dirty="0"/>
              <a:t>partners</a:t>
            </a:r>
          </a:p>
          <a:p>
            <a:r>
              <a:rPr lang="en-CA" sz="3200" dirty="0"/>
              <a:t>	id integer [primary key]</a:t>
            </a:r>
          </a:p>
          <a:p>
            <a:r>
              <a:rPr lang="en-CA" sz="3200" dirty="0" err="1"/>
              <a:t>event_partner</a:t>
            </a:r>
            <a:endParaRPr lang="en-CA" sz="3200" dirty="0"/>
          </a:p>
          <a:p>
            <a:r>
              <a:rPr lang="en-CA" sz="3200" dirty="0"/>
              <a:t>	</a:t>
            </a:r>
            <a:r>
              <a:rPr lang="en-CA" sz="3200" dirty="0" err="1"/>
              <a:t>event_id</a:t>
            </a:r>
            <a:r>
              <a:rPr lang="en-CA" sz="3200" dirty="0"/>
              <a:t> integer [primary key]</a:t>
            </a:r>
          </a:p>
          <a:p>
            <a:r>
              <a:rPr lang="en-CA" sz="3200" dirty="0"/>
              <a:t>	</a:t>
            </a:r>
            <a:r>
              <a:rPr lang="en-CA" sz="3200" dirty="0" err="1"/>
              <a:t>partner_id</a:t>
            </a:r>
            <a:r>
              <a:rPr lang="en-CA" sz="3200" dirty="0"/>
              <a:t> integer [primary key]</a:t>
            </a:r>
            <a:endParaRPr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25650892" y="15480511"/>
            <a:ext cx="17564680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/>
              <a:t>Synthetic Data</a:t>
            </a:r>
            <a:endParaRPr lang="en-CA" sz="3200" b="1" dirty="0"/>
          </a:p>
          <a:p>
            <a:r>
              <a:rPr lang="en-CA" sz="3200" dirty="0"/>
              <a:t>Donors</a:t>
            </a:r>
            <a:endParaRPr sz="3200" dirty="0"/>
          </a:p>
          <a:p>
            <a:r>
              <a:rPr lang="en-CA" sz="3200" dirty="0"/>
              <a:t>('DNR-1001', 'Alice Johnson', '</a:t>
            </a:r>
            <a:r>
              <a:rPr lang="en-CA" sz="3200" dirty="0" err="1"/>
              <a:t>alice@example.com</a:t>
            </a:r>
            <a:r>
              <a:rPr lang="en-CA" sz="3200" dirty="0"/>
              <a:t>', '123-456-7890', '123 Main St', 'Individual’)</a:t>
            </a:r>
          </a:p>
          <a:p>
            <a:r>
              <a:rPr lang="en-CA" sz="3200" dirty="0"/>
              <a:t>Campaigns</a:t>
            </a:r>
          </a:p>
          <a:p>
            <a:r>
              <a:rPr lang="en-CA" sz="3200" dirty="0"/>
              <a:t>('Winter Food Drive', 'Providing food supplies during winter', '2026-01-01', '2026-02-28', 10000, 'Active’)</a:t>
            </a:r>
          </a:p>
          <a:p>
            <a:r>
              <a:rPr lang="en-CA" sz="3200" dirty="0"/>
              <a:t>Donations</a:t>
            </a:r>
          </a:p>
          <a:p>
            <a:r>
              <a:rPr lang="en-CA" sz="3200" dirty="0"/>
              <a:t>(1, 1, 200.00, 'Cash', '2026-01-10', 'Credit Card’)</a:t>
            </a:r>
          </a:p>
          <a:p>
            <a:r>
              <a:rPr lang="en-CA" sz="3200" dirty="0"/>
              <a:t>Events</a:t>
            </a:r>
          </a:p>
          <a:p>
            <a:r>
              <a:rPr lang="en-CA" sz="3200" dirty="0"/>
              <a:t>(1, 'Food Distribution Day 1', 'Distribution', 'Community Center', '2026-01-20', 'first round of distribution’)</a:t>
            </a:r>
          </a:p>
          <a:p>
            <a:r>
              <a:rPr lang="en-CA" sz="3200" dirty="0"/>
              <a:t>Beneficiaries</a:t>
            </a:r>
          </a:p>
          <a:p>
            <a:r>
              <a:rPr lang="en-CA" sz="3200" dirty="0"/>
              <a:t>('BEN-001', 'Charlottetown Area', 4)</a:t>
            </a:r>
          </a:p>
          <a:p>
            <a:r>
              <a:rPr lang="en-CA" sz="3200" dirty="0"/>
              <a:t>Distributions</a:t>
            </a:r>
          </a:p>
          <a:p>
            <a:r>
              <a:rPr lang="en-CA" sz="3200" dirty="0"/>
              <a:t>(1, 1, 'Food', 50.00, '2026-01-20’)</a:t>
            </a:r>
          </a:p>
          <a:p>
            <a:r>
              <a:rPr lang="en-CA" sz="3200" dirty="0"/>
              <a:t>Shifts</a:t>
            </a:r>
          </a:p>
          <a:p>
            <a:r>
              <a:rPr lang="en-CA" sz="3200" dirty="0"/>
              <a:t>(1, '2026-01-20 09:00:00', '2026-01-20 12:00:00’)</a:t>
            </a:r>
          </a:p>
          <a:p>
            <a:r>
              <a:rPr lang="en-CA" sz="3200" dirty="0"/>
              <a:t>Volunteers</a:t>
            </a:r>
          </a:p>
          <a:p>
            <a:r>
              <a:rPr lang="en-CA" sz="3200" dirty="0"/>
              <a:t>('John Doe', '</a:t>
            </a:r>
            <a:r>
              <a:rPr lang="en-CA" sz="3200" dirty="0" err="1"/>
              <a:t>john@example.com</a:t>
            </a:r>
            <a:r>
              <a:rPr lang="en-CA" sz="3200" dirty="0"/>
              <a:t>', '555-1111', '12 Elm St', 'Cooking, Driving', 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99110" y="15996889"/>
            <a:ext cx="12196090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/>
              <a:t>Queries &amp; Results</a:t>
            </a:r>
          </a:p>
          <a:p>
            <a:r>
              <a:rPr lang="en-CA" sz="3200" b="1" dirty="0"/>
              <a:t>How much did each campaign raise?</a:t>
            </a:r>
          </a:p>
          <a:p>
            <a:r>
              <a:rPr lang="en-CA" sz="3200" dirty="0"/>
              <a:t>SELECT </a:t>
            </a:r>
            <a:r>
              <a:rPr lang="en-CA" sz="3200" dirty="0" err="1"/>
              <a:t>c.name</a:t>
            </a:r>
            <a:r>
              <a:rPr lang="en-CA" sz="3200" dirty="0"/>
              <a:t> AS </a:t>
            </a:r>
            <a:r>
              <a:rPr lang="en-CA" sz="3200" dirty="0" err="1"/>
              <a:t>campaign_name</a:t>
            </a:r>
            <a:r>
              <a:rPr lang="en-CA" sz="3200" dirty="0"/>
              <a:t>, SUM(</a:t>
            </a:r>
            <a:r>
              <a:rPr lang="en-CA" sz="3200" dirty="0" err="1"/>
              <a:t>d.amount</a:t>
            </a:r>
            <a:r>
              <a:rPr lang="en-CA" sz="3200" dirty="0"/>
              <a:t>) AS </a:t>
            </a:r>
            <a:r>
              <a:rPr lang="en-CA" sz="3200" dirty="0" err="1"/>
              <a:t>total_raised</a:t>
            </a:r>
            <a:endParaRPr lang="en-CA" sz="3200" dirty="0"/>
          </a:p>
          <a:p>
            <a:r>
              <a:rPr lang="en-CA" sz="3200" dirty="0"/>
              <a:t>FROM campaigns c</a:t>
            </a:r>
          </a:p>
          <a:p>
            <a:r>
              <a:rPr lang="en-CA" sz="3200" dirty="0"/>
              <a:t>LEFT JOIN donations d ON </a:t>
            </a:r>
            <a:r>
              <a:rPr lang="en-CA" sz="3200" dirty="0" err="1"/>
              <a:t>c.id</a:t>
            </a:r>
            <a:r>
              <a:rPr lang="en-CA" sz="3200" dirty="0"/>
              <a:t> = </a:t>
            </a:r>
            <a:r>
              <a:rPr lang="en-CA" sz="3200" dirty="0" err="1"/>
              <a:t>d.campaign_id</a:t>
            </a:r>
            <a:endParaRPr lang="en-CA" sz="3200" dirty="0"/>
          </a:p>
          <a:p>
            <a:r>
              <a:rPr lang="en-CA" sz="3200" dirty="0"/>
              <a:t>GROUP BY </a:t>
            </a:r>
            <a:r>
              <a:rPr lang="en-CA" sz="3200" dirty="0" err="1"/>
              <a:t>c.name</a:t>
            </a:r>
            <a:r>
              <a:rPr lang="en-CA" sz="3200" dirty="0"/>
              <a:t>;</a:t>
            </a:r>
          </a:p>
          <a:p>
            <a:endParaRPr lang="en-CA" sz="3200" dirty="0"/>
          </a:p>
          <a:p>
            <a:r>
              <a:rPr lang="en-CA" sz="3200" b="1" dirty="0"/>
              <a:t>Are events properly staffed?</a:t>
            </a:r>
          </a:p>
          <a:p>
            <a:r>
              <a:rPr lang="en-CA" sz="3200" dirty="0"/>
              <a:t>SELECT </a:t>
            </a:r>
            <a:r>
              <a:rPr lang="en-CA" sz="3200" dirty="0" err="1"/>
              <a:t>s.id</a:t>
            </a:r>
            <a:r>
              <a:rPr lang="en-CA" sz="3200" dirty="0"/>
              <a:t> AS </a:t>
            </a:r>
            <a:r>
              <a:rPr lang="en-CA" sz="3200" dirty="0" err="1"/>
              <a:t>shift_id</a:t>
            </a:r>
            <a:r>
              <a:rPr lang="en-CA" sz="3200" dirty="0"/>
              <a:t>,</a:t>
            </a:r>
          </a:p>
          <a:p>
            <a:r>
              <a:rPr lang="en-CA" sz="3200" dirty="0"/>
              <a:t>       COUNT(</a:t>
            </a:r>
            <a:r>
              <a:rPr lang="en-CA" sz="3200" dirty="0" err="1"/>
              <a:t>vs.volunteer_id</a:t>
            </a:r>
            <a:r>
              <a:rPr lang="en-CA" sz="3200" dirty="0"/>
              <a:t>) AS </a:t>
            </a:r>
            <a:r>
              <a:rPr lang="en-CA" sz="3200" dirty="0" err="1"/>
              <a:t>assigned_volunteers</a:t>
            </a:r>
            <a:endParaRPr lang="en-CA" sz="3200" dirty="0"/>
          </a:p>
          <a:p>
            <a:r>
              <a:rPr lang="en-CA" sz="3200" dirty="0"/>
              <a:t>FROM shifts s</a:t>
            </a:r>
          </a:p>
          <a:p>
            <a:r>
              <a:rPr lang="en-CA" sz="3200" dirty="0"/>
              <a:t>LEFT JOIN </a:t>
            </a:r>
            <a:r>
              <a:rPr lang="en-CA" sz="3200" dirty="0" err="1"/>
              <a:t>volunteer_shift</a:t>
            </a:r>
            <a:r>
              <a:rPr lang="en-CA" sz="3200" dirty="0"/>
              <a:t> vs ON </a:t>
            </a:r>
            <a:r>
              <a:rPr lang="en-CA" sz="3200" dirty="0" err="1"/>
              <a:t>s.id</a:t>
            </a:r>
            <a:r>
              <a:rPr lang="en-CA" sz="3200" dirty="0"/>
              <a:t> = </a:t>
            </a:r>
            <a:r>
              <a:rPr lang="en-CA" sz="3200" dirty="0" err="1"/>
              <a:t>vs.shift_id</a:t>
            </a:r>
            <a:endParaRPr lang="en-CA" sz="3200" dirty="0"/>
          </a:p>
          <a:p>
            <a:r>
              <a:rPr lang="en-CA" sz="3200" dirty="0"/>
              <a:t>GROUP BY </a:t>
            </a:r>
            <a:r>
              <a:rPr lang="en-CA" sz="3200" dirty="0" err="1"/>
              <a:t>s.id</a:t>
            </a:r>
            <a:r>
              <a:rPr lang="en-CA" sz="3200" dirty="0"/>
              <a:t>;</a:t>
            </a:r>
          </a:p>
          <a:p>
            <a:endParaRPr lang="en-CA" sz="3200" dirty="0"/>
          </a:p>
          <a:p>
            <a:r>
              <a:rPr lang="en-CA" sz="3200" dirty="0"/>
              <a:t>These queries support reporting needs such as campaign performance and volunteer engagement, which were identified as key challenges in the problem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7908" y="18518937"/>
            <a:ext cx="1111550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/>
              <a:t>Reflection</a:t>
            </a:r>
          </a:p>
          <a:p>
            <a:r>
              <a:rPr lang="en-CA" sz="3200" dirty="0"/>
              <a:t>All crucial information required by the real-world charity fits in SQL database perfectly. </a:t>
            </a:r>
            <a:endParaRPr sz="3200" dirty="0"/>
          </a:p>
          <a:p>
            <a:endParaRPr lang="en-CA" sz="3200" dirty="0"/>
          </a:p>
          <a:p>
            <a:r>
              <a:rPr lang="en-CA" sz="3200" dirty="0"/>
              <a:t>The challenge is to decide the entities and relationships between them. It is relatively easy to have a big picture, but challenging to make decisions about details. </a:t>
            </a:r>
          </a:p>
          <a:p>
            <a:endParaRPr lang="en-CA" sz="3200" dirty="0"/>
          </a:p>
          <a:p>
            <a:r>
              <a:rPr lang="en-CA" sz="3200" dirty="0"/>
              <a:t>For a SQL database development, the structure of database is the most important part through the whole process.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BBEBB4-5568-EB20-6DEF-C3237419F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463" y="1000411"/>
            <a:ext cx="21544798" cy="11915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A22760-BA1D-8C3C-19EA-9A9A6D0B1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3334" y="18650165"/>
            <a:ext cx="4624531" cy="17689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F4A869-86A6-8892-6027-8328BA044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3448" y="21080117"/>
            <a:ext cx="4260419" cy="17689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751</Words>
  <Application>Microsoft Macintosh PowerPoint</Application>
  <PresentationFormat>Custom</PresentationFormat>
  <Paragraphs>84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Haisen Wang</cp:lastModifiedBy>
  <cp:revision>2</cp:revision>
  <dcterms:created xsi:type="dcterms:W3CDTF">2013-01-27T09:14:16Z</dcterms:created>
  <dcterms:modified xsi:type="dcterms:W3CDTF">2026-04-09T12:42:38Z</dcterms:modified>
  <cp:category/>
</cp:coreProperties>
</file>